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444444"/>
                </a:solidFill>
                <a:latin typeface="Arial"/>
              </a:rPr>
              <a:t>Average Fitness Score (5 runs)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Fitness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38-403C-A7D3-10A64037C6C2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38-403C-A7D3-10A64037C6C2}"/>
              </c:ext>
            </c:extLst>
          </c:dPt>
          <c:dPt>
            <c:idx val="2"/>
            <c:invertIfNegative val="0"/>
            <c:bubble3D val="0"/>
            <c:spPr>
              <a:solidFill>
                <a:srgbClr val="2C5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38-403C-A7D3-10A64037C6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Genetic Algorithm</c:v>
                </c:pt>
                <c:pt idx="1">
                  <c:v>Particle Swarm</c:v>
                </c:pt>
                <c:pt idx="2">
                  <c:v>Ant Colony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</c:v>
                </c:pt>
                <c:pt idx="1">
                  <c:v>0.9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738-403C-A7D3-10A64037C6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2"/>
          <c:min val="0.85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444444"/>
                </a:solidFill>
                <a:latin typeface="Arial"/>
              </a:rPr>
              <a:t>Execution Time (milliseconds)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(ms)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30B-46B2-81E5-CF25DADB497D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0B-46B2-81E5-CF25DADB497D}"/>
              </c:ext>
            </c:extLst>
          </c:dPt>
          <c:dPt>
            <c:idx val="2"/>
            <c:invertIfNegative val="0"/>
            <c:bubble3D val="0"/>
            <c:spPr>
              <a:solidFill>
                <a:srgbClr val="2C5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30B-46B2-81E5-CF25DADB497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GA (~38 ms)</c:v>
                </c:pt>
                <c:pt idx="1">
                  <c:v>PSO (~58 ms)</c:v>
                </c:pt>
                <c:pt idx="2">
                  <c:v>ACO (~1,150 ms)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58</c:v>
                </c:pt>
                <c:pt idx="2">
                  <c:v>1150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30B-46B2-81E5-CF25DADB49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982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TECHNIQUES  —  CASE STUDY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Optimization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br>
              <a:rPr lang="en-US" sz="1400" dirty="0"/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Study of Genetic Algorithm, Particle Swarm Optimization,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Ant Colony Optimization for Efficient Resource Allocation</a:t>
            </a:r>
          </a:p>
        </p:txBody>
      </p:sp>
      <p:sp>
        <p:nvSpPr>
          <p:cNvPr id="7" name="Shape 5"/>
          <p:cNvSpPr/>
          <p:nvPr/>
        </p:nvSpPr>
        <p:spPr>
          <a:xfrm>
            <a:off x="2560320" y="2834640"/>
            <a:ext cx="4023360" cy="0"/>
          </a:xfrm>
          <a:prstGeom prst="line">
            <a:avLst/>
          </a:prstGeom>
          <a:noFill/>
          <a:ln w="1524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K Santosh Reddy  (2023BCSE07AED084)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Shaik Mohammad Adil  (2023BCSE07AED096)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Rahul Sagar  (2023BCSE07AED106)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524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optimization is a complex NP-Hard problem involving efficient management of resources such as suppliers, warehouses, transportation, and delivery schedules. The goal is to minimize operational costs while meeting demand and maintaining service quality.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84048" cy="38404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84708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Demand-Supply Balance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2651760" cy="1336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Supply must meet customer demand without overstocking or shortages.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4408" y="1828800"/>
            <a:ext cx="384048" cy="38404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64408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39896" y="184708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Constraints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10128" y="2304288"/>
            <a:ext cx="2651760" cy="1336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Goods must be delivered using limited vehicles and routes without delays.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71616" y="1828800"/>
            <a:ext cx="384048" cy="38404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71616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47104" y="184708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Utilization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17336" y="2304288"/>
            <a:ext cx="2651760" cy="1336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Warehouses, vehicles, and inventory must be used efficiently without exceeding capacity.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487375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produce a valid, conflict-free timetable in minimum computation time.</a:t>
            </a:r>
            <a:endParaRPr 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22E15C-FD3E-D43B-4B49-DB74E2C5ADB2}"/>
              </a:ext>
            </a:extLst>
          </p:cNvPr>
          <p:cNvSpPr txBox="1"/>
          <p:nvPr/>
        </p:nvSpPr>
        <p:spPr>
          <a:xfrm>
            <a:off x="457200" y="3920311"/>
            <a:ext cx="59984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br>
              <a:rPr lang="en-US" dirty="0"/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cost-effective, efficient, and optimized supply chain operations in minimum computation time.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Experiment Parameters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524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parameters below were kept identical across all three algorithms to ensure a fair and controlled comparison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977363"/>
              </p:ext>
            </p:extLst>
          </p:nvPr>
        </p:nvGraphicFramePr>
        <p:xfrm>
          <a:off x="457200" y="1344168"/>
          <a:ext cx="8229600" cy="313639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Products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 to be distributed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Warehouses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locations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Delivery Routes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Transportation paths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Vehicles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delivery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Population / Swarm Size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for all algorithms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Independent Runs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consistency testing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Genetic Algorithm (GA)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524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 optimizes supply chain decisions by evolving solutions over generation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dirty="0"/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64008" cy="82296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5910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" y="1956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5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Tournament (k = 3)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08960" y="1609344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Tournament Selection picks the fittest parent chromosomes from groups of 3. Stronger schedules are more likely to be chosen for reproduction, steering the population toward higher fitness.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624328"/>
            <a:ext cx="64008" cy="82296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26426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Crossover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30083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5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Rate = 0.80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08960" y="2660904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crossover rate of 0.80 means most pairs of parents exchange schedule segments to produce offspring. This enables rapid recombination of good partial solutions found in different chromosomes.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675888"/>
            <a:ext cx="64008" cy="82296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" y="3694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Mutation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" y="405993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5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Rate = 0.05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108960" y="3712464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low mutation rate of 0.05 randomly reassigns a small number of course-room-slot triplets. This preserves diversity within the population and prevents premature convergence to a local optimum.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Particle Swarm Optimization (PSO)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524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PSO treats each candidate schedule as a particle moving through a high-dimensional search space. Each particle updates its position based on its own best-known solution (cognitive) and the swarm's global best (social). Three key parameters control this behaviour.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64008" cy="82296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645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Cognitive Factor (c1)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5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 = 1.50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566160" y="166420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Pulls each particle toward its own personal best position in the search space. A value of 1.50 gives moderate weight to individual memory, balancing self-learning with social influence.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64008" cy="82296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2697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Social Factor (c2</a:t>
            </a:r>
            <a:r>
              <a:rPr lang="en-US" sz="12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792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5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 = 2.00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66160" y="271576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Pulls all particles toward the global best position found by the swarm so far. A higher value of 2.00 gives more weight to collective knowledge, encouraging convergence toward the best-known region.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730752"/>
            <a:ext cx="64008" cy="82296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" y="3749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Inertia Weight (w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5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 = 0.70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66160" y="376732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Controls how much a particle continues in its current direction. A value of 0.70 provides moderate inertia — enough to explore broadly in early iterations while still allowing fine-tuning later.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Ant Colony Optimization (ACO)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524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ACO is inspired by the foraging behaviour of ants. Rather than evolving complete schedules like GA or PSO, ACO constructs schedules incrementally — one course assignment at a time — guided by a shared pheromone memory. This construction approach naturally aligns with the hard constraint structure of timetabling.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64008" cy="804672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7556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Construction Method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" y="21214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Unlike GA and PSO, which operate on whole schedules, each ant builds a schedule by selecting one course-room-timeslot assignment at a time. This makes it easier to enforce hard constraints (no conflicts) at each step.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64008" cy="804672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Pheromone Matrix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1792" y="31089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3-dimensional memory structure indexed by Course × Room × Timeslot. Assignments that lead to conflict-free schedules receive pheromone deposits, reinforcing those choices for future ants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12464"/>
            <a:ext cx="64008" cy="804672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1792" y="37307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Evaporation Rate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40965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at 0.05 (low). Pheromone fades slowly, giving the colony long-term memory of high-quality solutions. This prevents the algorithm from forgetting good assignments found in early iterations and discourages premature forgetting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 — Fitness Score Comparison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524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algorithm was run 5 independent times. A fitness score of 1.0000 means a fully conflict-free schedule was produced.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958125424"/>
              </p:ext>
            </p:extLst>
          </p:nvPr>
        </p:nvGraphicFramePr>
        <p:xfrm>
          <a:off x="457200" y="1299428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1417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720840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Avg: 0.9800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35040" y="180136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Mostly reliable but occasionally gets stuck in local optima, causing premature convergence before reaching a perfect schedule.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035040" y="2441448"/>
            <a:ext cx="27432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035040" y="25146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PSO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72084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Avg: 0.9000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35040" y="289864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sensitive to local optima of the three. Fitness varied noticeably across runs, indicating lower consistency.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035040" y="3538728"/>
            <a:ext cx="27432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035040" y="36118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ACO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72084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Avg: 1.0000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035040" y="399592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Perfect score in all 5 independent runs. The most reliable algorithm tested — never produced a conflicting schedule.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Execution Speed Comparison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524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Average wall-clock time per run on the same hardware. GA and PSO operate on whole populations in parallel, making them significantly faster. ACO's per-assignment construction is slower but more thorough.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81328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172200" y="1572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Takeaway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72200" y="1993392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ACO takes roughly 1,150 ms versus GA's 38 ms — about 30× slower. However, for a task that runs once per semester, a one-second difference is completely negligible. The guaranteed conflict-free output from ACO far outweighs this minor speed penalty in a real scheduling context.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 Comparison Table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524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Summary of all measured and observed metrics across the three metaheuristic algorithms.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956013"/>
              </p:ext>
            </p:extLst>
          </p:nvPr>
        </p:nvGraphicFramePr>
        <p:xfrm>
          <a:off x="457200" y="1261872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Efficiency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Perfect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Reliability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 Optimization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Use Case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Real-world deployment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 &amp; Recommendation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524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Based on 5 independent runs, ACO is the recommended algorithm for production-level course scheduling. It is the only algorithm that consistently produced a fully conflict-free timetable.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4008" cy="69494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527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ACO — Deploy for Production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" y="185623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Achieved perfect 1.0000 fitness in every run. The slightly higher execution time (~1.15 s) is negligible for a task performed once per semester. Recommended for Alliance University's scheduling system.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64008" cy="69494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 — Use for What-If Scenarios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1792" y="270662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 (~38 ms) and mostly reliable (avg 0.98). Best suited for quickly exploring many scheduling alternatives during the planning phase, where 100% accuracy is not strictly required.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209544"/>
            <a:ext cx="64008" cy="69494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1792" y="3227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PSO — Not Recommended Standalone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35570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Lowest reliability (avg 0.90) and most sensitive to local optima. Not suitable on its own for production scheduling. May have value as part of a hybrid algorithm combined with ACO.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059936"/>
            <a:ext cx="64008" cy="69494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1792" y="40782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Work — Hybrid Metaheuristics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1792" y="440740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Combining the speed of PSO with ACO's pheromone-guided refinement is a promising direction. Future studies should also incorporate soft constraints such as lecturer preferences and student travel time between rooms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0" y="2697480"/>
            <a:ext cx="3657600" cy="0"/>
          </a:xfrm>
          <a:prstGeom prst="line">
            <a:avLst/>
          </a:prstGeom>
          <a:noFill/>
          <a:ln w="190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Supply Chain Optimization  —  GA, PSO &amp; ACO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97650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200" dirty="0">
                <a:solidFill>
                  <a:srgbClr val="6666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 Santosh Reddy  (2023BCSE07AED084)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solidFill>
                  <a:srgbClr val="6666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   Shaik Mohammad Adil  (2023BCSE07AED096)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solidFill>
                  <a:srgbClr val="6666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 Rahul Sagar  (2023BCSE07AED106)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1175</Words>
  <Application>Microsoft Office PowerPoint</Application>
  <PresentationFormat>On-screen Show (16:9)</PresentationFormat>
  <Paragraphs>145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Scheduling Optimization</dc:title>
  <dc:subject>PptxGenJS Presentation</dc:subject>
  <dc:creator>PptxGenJS</dc:creator>
  <cp:lastModifiedBy>Santosh reddy</cp:lastModifiedBy>
  <cp:revision>4</cp:revision>
  <dcterms:created xsi:type="dcterms:W3CDTF">2026-04-08T09:44:48Z</dcterms:created>
  <dcterms:modified xsi:type="dcterms:W3CDTF">2026-04-10T09:10:10Z</dcterms:modified>
</cp:coreProperties>
</file>